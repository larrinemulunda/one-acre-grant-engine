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7119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Production-Ready Grant Allocation Pipeline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3925119" y="1404565"/>
            <a:ext cx="1708249" cy="239018"/>
          </a:xfrm>
          <a:prstGeom prst="roundRect">
            <a:avLst>
              <a:gd name="adj" fmla="val 18372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4003477" y="1443707"/>
            <a:ext cx="200873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 FINAL ROUND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698703" y="1404565"/>
            <a:ext cx="1051768" cy="239018"/>
          </a:xfrm>
          <a:prstGeom prst="roundRect">
            <a:avLst>
              <a:gd name="adj" fmla="val 18372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950bc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77061" y="1443707"/>
            <a:ext cx="135225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LARRY MULUNDA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925119" y="1779091"/>
            <a:ext cx="47227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fundamentally a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matching-and-exhaustion problem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Finance needs every eligible transaction matched to a grant, deterministically and idempotently.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925119" y="2517130"/>
            <a:ext cx="2301106" cy="1149772"/>
          </a:xfrm>
          <a:prstGeom prst="roundRect">
            <a:avLst>
              <a:gd name="adj" fmla="val 477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0552" y="265256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Accuracy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60552" y="2928938"/>
            <a:ext cx="2030239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Non-negotiable — this is a Finance ledger, no money can be created or destroyed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46701" y="2517130"/>
            <a:ext cx="2301180" cy="1149772"/>
          </a:xfrm>
          <a:prstGeom prst="roundRect">
            <a:avLst>
              <a:gd name="adj" fmla="val 477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82135" y="265256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Auditability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82135" y="2928938"/>
            <a:ext cx="203031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Matters as much as correctness — every dollar traceable to the exact run, rule, and grant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25119" y="3787378"/>
            <a:ext cx="4722763" cy="948928"/>
          </a:xfrm>
          <a:prstGeom prst="roundRect">
            <a:avLst>
              <a:gd name="adj" fmla="val 578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60552" y="392281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🔁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Idempotency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060552" y="4199186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Reruns and retries must never double-count or silently diverge from a prior result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0422"/>
            <a:ext cx="387727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Overview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950714"/>
            <a:ext cx="4722763" cy="9075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92029" y="1288182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4544020" y="108897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Medallion Layers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44020" y="1347936"/>
            <a:ext cx="396560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(raw), Silver (validated), Gold (certified ledger) — each with a distinct contract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966764"/>
            <a:ext cx="4722763" cy="9075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92029" y="2304231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4544020" y="2105025"/>
            <a:ext cx="163123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Prefect Orchestration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544020" y="2363986"/>
            <a:ext cx="396560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Retries, scheduling, flow-state hooks for notifications, task-level checkpointing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982813"/>
            <a:ext cx="4722763" cy="9075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92029" y="3320281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4544020" y="3121075"/>
            <a:ext cx="195284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Soda Core Data Contracts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44020" y="3380036"/>
            <a:ext cx="396560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Declarative quality gates between Bronze and Silver, editable without touching Python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998863"/>
            <a:ext cx="4722763" cy="74421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092029" y="425469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4544020" y="4137124"/>
            <a:ext cx="174039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 Version Control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544020" y="4396085"/>
            <a:ext cx="396560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branch, PR, CI with linting and pytest, then merge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337"/>
            <a:ext cx="350296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Loading Strategy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68772"/>
            <a:ext cx="5194622" cy="294359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2713" y="1069777"/>
            <a:ext cx="2659931" cy="111077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85967" y="120588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Grants (Dimension)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185967" y="1500857"/>
            <a:ext cx="2330574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load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reliable watermark, small table, safer than partial incremental logic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2713" y="2285181"/>
            <a:ext cx="2659931" cy="111077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85967" y="242128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Transactions (Fact)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185967" y="2716262"/>
            <a:ext cx="2330574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Rolling window incremental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watermark plus a lookback buffer to catch late-arriving data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2713" y="3500586"/>
            <a:ext cx="2659931" cy="111077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85967" y="363669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Gold Allocations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185967" y="3931667"/>
            <a:ext cx="2330574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Hybrid windowed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closed periods are immutable, only the open period recomputes each run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4440"/>
            <a:ext cx="4218682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Reliability &amp; Resilience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033090"/>
            <a:ext cx="343272" cy="3432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34632" y="1033090"/>
            <a:ext cx="230549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Exponential Backoff Retries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34632" y="1327398"/>
            <a:ext cx="42132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attempts at 30, 60, 120 seconds, verified against Prefect's real backoff utility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026072"/>
            <a:ext cx="343272" cy="3432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34632" y="2026072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Idempotent Writes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34632" y="2320379"/>
            <a:ext cx="42132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/ INSERT OR IGNORE everywhere so a retried load can never create a duplicate record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019053"/>
            <a:ext cx="343272" cy="3432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34632" y="3019053"/>
            <a:ext cx="325256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Watermark Advances on Success Only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34632" y="3313361"/>
            <a:ext cx="42132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failed run leaves the cursor untouched so the next run retries correctly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4012034"/>
            <a:ext cx="343272" cy="3432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34632" y="4012034"/>
            <a:ext cx="215726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Rolling Window Lookback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434632" y="4306342"/>
            <a:ext cx="42132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Re-scans a buffer behind the watermark so late-arriving older-dated transactions are never permanently missed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5810"/>
            <a:ext cx="676260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Quality — A Real Bug, Not a Hypothetical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94036"/>
            <a:ext cx="5202138" cy="22432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6164" y="3511911"/>
            <a:ext cx="1180192" cy="147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Reconciliation Gate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46164" y="2992627"/>
            <a:ext cx="1338453" cy="147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Silent Misclassification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6164" y="2478588"/>
            <a:ext cx="1180192" cy="147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Caught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6164" y="1959303"/>
            <a:ext cx="1180192" cy="147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Silver Contract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4362" y="1100658"/>
            <a:ext cx="2688208" cy="7821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0185" y="1114946"/>
            <a:ext cx="18303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Silver-Layer Contract Gate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120185" y="1381423"/>
            <a:ext cx="2532385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 before the allocator ever runs: required columns, no silent type drift, referential integrity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4362" y="2034257"/>
            <a:ext cx="2688208" cy="7916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20185" y="2048545"/>
            <a:ext cx="1612032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Caught in Development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120185" y="2315021"/>
            <a:ext cx="2532385" cy="496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Account code stored as 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"10002.0"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one side and 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"10002"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the other silently failed every match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4362" y="2977381"/>
            <a:ext cx="2688208" cy="78216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20185" y="2991669"/>
            <a:ext cx="160094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Silent Misclassification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120185" y="3258145"/>
            <a:ext cx="2532385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spend was misclassified as grant-exhausted with zero errors raised anywhere in the pipeline</a:t>
            </a:r>
            <a:endParaRPr lang="en-US" sz="8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64362" y="3910980"/>
            <a:ext cx="2688208" cy="6197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120185" y="3925267"/>
            <a:ext cx="188959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Reconciliation as Final Gate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6120185" y="4191744"/>
            <a:ext cx="2532385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run asserts no money is created or destroyed, and no grant balance goes negative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2878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Period Governance</a:t>
            </a:r>
            <a:endParaRPr lang="en-US" sz="2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1005036"/>
            <a:ext cx="664518" cy="9601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205" y="113794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Period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714205" y="1420341"/>
            <a:ext cx="393367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recompute each run via atomic swap — nothing is final yet, so a clean overwrite is safe and cheap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1965201"/>
            <a:ext cx="664518" cy="9601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14205" y="209810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Closed Period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4714205" y="2380506"/>
            <a:ext cx="393367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after sign-off — the write path refuses any swap against a closed period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2925366"/>
            <a:ext cx="664518" cy="9601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14205" y="3058269"/>
            <a:ext cx="247664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Correction: Reopen &amp; Cascade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4714205" y="3340671"/>
            <a:ext cx="393367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Recomputes forward through every affected period, snapshotting before and after as audit evidence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3925119" y="4025652"/>
            <a:ext cx="4722763" cy="714970"/>
          </a:xfrm>
          <a:prstGeom prst="roundRect">
            <a:avLst>
              <a:gd name="adj" fmla="val 7807"/>
            </a:avLst>
          </a:prstGeom>
          <a:solidFill>
            <a:srgbClr val="B6FCB8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8022" y="4213547"/>
            <a:ext cx="166092" cy="13290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57018" y="4183410"/>
            <a:ext cx="415796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against real data: multiple periods correctly reclosed in sequence, cascade stopped cleanly at the right boundary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189"/>
            <a:ext cx="3515320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Monitoring &amp; Alerting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55154"/>
            <a:ext cx="5198418" cy="294575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85644" y="1036141"/>
            <a:ext cx="264096" cy="264096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46924" y="1076474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Flow-State Hooks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346924" y="1357089"/>
            <a:ext cx="2305645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and failure notifications wired via Prefect flow-state hooks — every run emails a result automatically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985644" y="2066553"/>
            <a:ext cx="264096" cy="264096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46924" y="2106885"/>
            <a:ext cx="177708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Traceback on Failure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46924" y="2387501"/>
            <a:ext cx="230564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 directly that Prefect exposes the real exception, not a placeholder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85644" y="2925291"/>
            <a:ext cx="264096" cy="264096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6924" y="2965624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AI-Assisted Triage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46924" y="3246239"/>
            <a:ext cx="2305645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traceback is sent to an LLM for a first-hypothesis troubleshooting checklist, embedded in the failure alert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85644" y="3955703"/>
            <a:ext cx="264096" cy="264096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46924" y="3996035"/>
            <a:ext cx="183363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Fail-Soft by Design &amp; Test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346924" y="4276651"/>
            <a:ext cx="230564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API key, network error, or rate limit ever cascades into a second failure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8338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Application in Data Engineering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3925119" y="1375842"/>
            <a:ext cx="2303190" cy="1822400"/>
          </a:xfrm>
          <a:prstGeom prst="roundRect">
            <a:avLst>
              <a:gd name="adj" fmla="val 296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58320" y="1509043"/>
            <a:ext cx="385390" cy="38539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4285" y="1615008"/>
            <a:ext cx="173385" cy="1733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58320" y="201081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AIOps Initial Triage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058320" y="2281312"/>
            <a:ext cx="203678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&amp; verified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real failure-triage agent embedded in alert emails, fires only on failure, uses a low-cost model tier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344692" y="1375842"/>
            <a:ext cx="2303190" cy="1822400"/>
          </a:xfrm>
          <a:prstGeom prst="roundRect">
            <a:avLst>
              <a:gd name="adj" fmla="val 296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77893" y="1509043"/>
            <a:ext cx="385390" cy="38539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3859" y="1615008"/>
            <a:ext cx="173385" cy="1733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77893" y="2010817"/>
            <a:ext cx="182128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Insights in Reporting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77893" y="2281312"/>
            <a:ext cx="2036787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forecasting expected allocation rate and volume ahead of period-end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925119" y="3314626"/>
            <a:ext cx="4722763" cy="1430536"/>
          </a:xfrm>
          <a:prstGeom prst="roundRect">
            <a:avLst>
              <a:gd name="adj" fmla="val 37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58320" y="3447827"/>
            <a:ext cx="385390" cy="38539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4285" y="3553792"/>
            <a:ext cx="173385" cy="17338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58320" y="394960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4058320" y="4220096"/>
            <a:ext cx="44563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Human-in-the-loop always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AI drafts and never auto-decides, every AI section is explicitly labeled as AI-generated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972"/>
            <a:ext cx="540581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Engineering Questions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63476"/>
            <a:ext cx="2622724" cy="238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2351" y="136981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1830437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Unallocated Amounts at Period-End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358405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should unallocated amounts be treated at the end of an accounting period — carried forward, written off, or flagged for Finance?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263476"/>
            <a:ext cx="2622724" cy="23898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6833" y="136981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421410" y="1830437"/>
            <a:ext cx="19742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 Grant Onboarding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21410" y="2136949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process for adding new grants, and can a grant be added today with a back-dated start date?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263476"/>
            <a:ext cx="2622724" cy="23898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1316" y="136981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185892" y="1830437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Reopen &amp; Cascade Governance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5892" y="2358405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access control yet on who can trigger a correction, and no protection against colliding with a scheduled run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96119" y="3812753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FCF2B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4013522"/>
            <a:ext cx="177180" cy="14175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56816" y="3989933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questions are intentionally surfaced — they represent real design decisions that require Finance and Engineering alignment before production go-live.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0319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96119" y="1052438"/>
            <a:ext cx="4722763" cy="1203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Questions &amp; Discussion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267519" y="2462064"/>
            <a:ext cx="5179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Larry Mulunda — Data Engineer Final Round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301563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316039"/>
            <a:ext cx="227550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dollar accounted for, no money created or destroyed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7069" y="2838004"/>
            <a:ext cx="2313608" cy="381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6"/>
          <p:cNvSpPr/>
          <p:nvPr/>
        </p:nvSpPr>
        <p:spPr>
          <a:xfrm>
            <a:off x="2943299" y="301563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Auditability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943299" y="3316039"/>
            <a:ext cx="227558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traceability to run, rule, and grant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924249" y="2838004"/>
            <a:ext cx="2313682" cy="381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496119" y="421131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Idempotency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96119" y="4511725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to retry, safe to rerun, always deterministic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7069" y="4033689"/>
            <a:ext cx="4760863" cy="38100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2026-07-06T05:37:58Z</dcterms:created>
  <dcterms:modified xsi:type="dcterms:W3CDTF">2026-07-06T05:37:58Z</dcterms:modified>
</cp:coreProperties>
</file>